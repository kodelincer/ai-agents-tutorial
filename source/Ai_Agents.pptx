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sldIdLst>
    <p:sldId id="256" r:id="rId2"/>
    <p:sldId id="261" r:id="rId3"/>
    <p:sldId id="290" r:id="rId4"/>
    <p:sldId id="309" r:id="rId5"/>
    <p:sldId id="286" r:id="rId6"/>
    <p:sldId id="303" r:id="rId7"/>
    <p:sldId id="287" r:id="rId8"/>
    <p:sldId id="285" r:id="rId9"/>
    <p:sldId id="278" r:id="rId10"/>
    <p:sldId id="300" r:id="rId11"/>
    <p:sldId id="257" r:id="rId12"/>
    <p:sldId id="269" r:id="rId13"/>
    <p:sldId id="301" r:id="rId14"/>
    <p:sldId id="298" r:id="rId15"/>
    <p:sldId id="270" r:id="rId16"/>
    <p:sldId id="288" r:id="rId17"/>
    <p:sldId id="283" r:id="rId18"/>
    <p:sldId id="258" r:id="rId19"/>
    <p:sldId id="279" r:id="rId20"/>
    <p:sldId id="259" r:id="rId21"/>
    <p:sldId id="266" r:id="rId22"/>
    <p:sldId id="260" r:id="rId23"/>
    <p:sldId id="262" r:id="rId24"/>
    <p:sldId id="271" r:id="rId25"/>
    <p:sldId id="263" r:id="rId26"/>
    <p:sldId id="291" r:id="rId27"/>
    <p:sldId id="264" r:id="rId28"/>
    <p:sldId id="265" r:id="rId29"/>
    <p:sldId id="272" r:id="rId30"/>
    <p:sldId id="276" r:id="rId31"/>
    <p:sldId id="277" r:id="rId32"/>
    <p:sldId id="294" r:id="rId33"/>
    <p:sldId id="280" r:id="rId34"/>
    <p:sldId id="281" r:id="rId35"/>
    <p:sldId id="289" r:id="rId36"/>
    <p:sldId id="284" r:id="rId37"/>
    <p:sldId id="274" r:id="rId38"/>
    <p:sldId id="273" r:id="rId39"/>
    <p:sldId id="292" r:id="rId40"/>
    <p:sldId id="293" r:id="rId41"/>
    <p:sldId id="299" r:id="rId42"/>
    <p:sldId id="302" r:id="rId43"/>
    <p:sldId id="308" r:id="rId44"/>
    <p:sldId id="268" r:id="rId45"/>
    <p:sldId id="297" r:id="rId46"/>
    <p:sldId id="296" r:id="rId47"/>
    <p:sldId id="307" r:id="rId48"/>
    <p:sldId id="304" r:id="rId49"/>
    <p:sldId id="267" r:id="rId50"/>
    <p:sldId id="282" r:id="rId51"/>
    <p:sldId id="305" r:id="rId52"/>
    <p:sldId id="306" r:id="rId53"/>
    <p:sldId id="275" r:id="rId54"/>
    <p:sldId id="295" r:id="rId5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9" d="100"/>
          <a:sy n="89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1F96-D4D2-47CF-BD34-89CB8726179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BC728-9570-47D5-8D71-F82640240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301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1F96-D4D2-47CF-BD34-89CB8726179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BCCBC728-9570-47D5-8D71-F82640240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402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1F96-D4D2-47CF-BD34-89CB8726179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BC728-9570-47D5-8D71-F82640240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24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1F96-D4D2-47CF-BD34-89CB8726179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BC728-9570-47D5-8D71-F82640240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41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1F96-D4D2-47CF-BD34-89CB8726179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BC728-9570-47D5-8D71-F82640240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182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1F96-D4D2-47CF-BD34-89CB8726179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BC728-9570-47D5-8D71-F82640240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514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1F96-D4D2-47CF-BD34-89CB8726179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BC728-9570-47D5-8D71-F82640240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901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1F96-D4D2-47CF-BD34-89CB8726179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BC728-9570-47D5-8D71-F82640240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97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1F96-D4D2-47CF-BD34-89CB8726179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BC728-9570-47D5-8D71-F82640240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887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1F96-D4D2-47CF-BD34-89CB8726179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BC728-9570-47D5-8D71-F82640240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64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1F96-D4D2-47CF-BD34-89CB8726179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BC728-9570-47D5-8D71-F82640240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3005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1F96-D4D2-47CF-BD34-89CB8726179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BC728-9570-47D5-8D71-F82640240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595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1F96-D4D2-47CF-BD34-89CB8726179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BC728-9570-47D5-8D71-F82640240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3097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1F96-D4D2-47CF-BD34-89CB8726179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BC728-9570-47D5-8D71-F82640240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4975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1F96-D4D2-47CF-BD34-89CB8726179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BC728-9570-47D5-8D71-F82640240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944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1F96-D4D2-47CF-BD34-89CB8726179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BC728-9570-47D5-8D71-F82640240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2006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1F96-D4D2-47CF-BD34-89CB8726179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BC728-9570-47D5-8D71-F82640240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992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F2A1F96-D4D2-47CF-BD34-89CB8726179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CCBC728-9570-47D5-8D71-F82640240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041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  <p:sldLayoutId id="214748377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7B65A-8DD1-483C-A093-729F0F39EC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Agent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B790EE-C03E-4473-9474-EE5FA64D5D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Automation</a:t>
            </a:r>
          </a:p>
          <a:p>
            <a:r>
              <a:rPr lang="fa-IR" dirty="0"/>
              <a:t>خودکار سازی فرآیندها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606A5D-8786-4574-9CD6-24105290C45E}"/>
              </a:ext>
            </a:extLst>
          </p:cNvPr>
          <p:cNvSpPr txBox="1"/>
          <p:nvPr/>
        </p:nvSpPr>
        <p:spPr>
          <a:xfrm>
            <a:off x="2205318" y="247426"/>
            <a:ext cx="16658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@jahankhah</a:t>
            </a:r>
          </a:p>
          <a:p>
            <a:r>
              <a:rPr lang="en-US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09392474188</a:t>
            </a:r>
          </a:p>
        </p:txBody>
      </p:sp>
    </p:spTree>
    <p:extLst>
      <p:ext uri="{BB962C8B-B14F-4D97-AF65-F5344CB8AC3E}">
        <p14:creationId xmlns:p14="http://schemas.microsoft.com/office/powerpoint/2010/main" val="2138099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C14D5F-1278-4E0C-B293-DE4AAB1F6FB2}"/>
              </a:ext>
            </a:extLst>
          </p:cNvPr>
          <p:cNvSpPr txBox="1"/>
          <p:nvPr/>
        </p:nvSpPr>
        <p:spPr>
          <a:xfrm>
            <a:off x="1468419" y="1195064"/>
            <a:ext cx="515291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/>
              <a:t>Fundamental of Machine Learning / Neural Network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/>
              <a:t>Fundamental of Data Science and Data Mining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/>
              <a:t>Transformer: Large Language Models (LLM)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/>
              <a:t>Attention Mechanisms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/>
              <a:t>The Probabilistic Nature of AI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/>
              <a:t>Foundation / Base Models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/>
              <a:t>Fine tuning (Instruction-following, Preference ,….) with foundation model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/>
              <a:t>Prompt Eng.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/>
              <a:t>Generative AI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/>
              <a:t>Tokenization[TokenID] and its usage meter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/>
              <a:t>Word Embeddings &amp; Positional Embeddings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/>
              <a:t>Encoder and Decoder , fine-tuning for classification  (spam/not spam)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/>
              <a:t>Internal/External Knowledge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/>
              <a:t>Vector Database [sentences Embeddings]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/>
              <a:t>RAG (Retrieval Augmented Generation)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/>
              <a:t>Hallucination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/>
              <a:t>Validations &amp; Benchmarks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/>
              <a:t>DevOps vs MLOps vs LLMOps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/>
              <a:t>Reasoning Engine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/>
              <a:t>Hardware (Processing Resources) for a model how much needed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/>
              <a:t>Agentic system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/>
              <a:t>Agents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/>
              <a:t>Coding Agent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/>
              <a:t>Claude Code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/>
              <a:t>Openclaw &amp; Hermes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8E4756-3F62-45CE-9842-AFC69FCC5C9B}"/>
              </a:ext>
            </a:extLst>
          </p:cNvPr>
          <p:cNvSpPr txBox="1"/>
          <p:nvPr/>
        </p:nvSpPr>
        <p:spPr>
          <a:xfrm>
            <a:off x="2355925" y="229331"/>
            <a:ext cx="8530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Concepts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62AF79-55AF-4E13-901A-D5A17040BB42}"/>
              </a:ext>
            </a:extLst>
          </p:cNvPr>
          <p:cNvSpPr txBox="1"/>
          <p:nvPr/>
        </p:nvSpPr>
        <p:spPr>
          <a:xfrm>
            <a:off x="6621332" y="1195064"/>
            <a:ext cx="51529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/>
              <a:t>Open-ended vs close-ended</a:t>
            </a:r>
          </a:p>
        </p:txBody>
      </p:sp>
    </p:spTree>
    <p:extLst>
      <p:ext uri="{BB962C8B-B14F-4D97-AF65-F5344CB8AC3E}">
        <p14:creationId xmlns:p14="http://schemas.microsoft.com/office/powerpoint/2010/main" val="3277879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4C21D-F4F2-4471-BF9B-FB26F2ACA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and Web sites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638A66-7225-4836-823A-91DE6D16CC47}"/>
              </a:ext>
            </a:extLst>
          </p:cNvPr>
          <p:cNvSpPr txBox="1"/>
          <p:nvPr/>
        </p:nvSpPr>
        <p:spPr>
          <a:xfrm>
            <a:off x="2280621" y="2438399"/>
            <a:ext cx="14494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Book Covers</a:t>
            </a:r>
          </a:p>
          <a:p>
            <a:r>
              <a:rPr lang="en-US" dirty="0"/>
              <a:t>Hugging face</a:t>
            </a:r>
          </a:p>
        </p:txBody>
      </p:sp>
    </p:spTree>
    <p:extLst>
      <p:ext uri="{BB962C8B-B14F-4D97-AF65-F5344CB8AC3E}">
        <p14:creationId xmlns:p14="http://schemas.microsoft.com/office/powerpoint/2010/main" val="2461536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0756B-EAB6-40D5-83AC-0EAD93A68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Layers of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158084-F42F-43E1-B643-1F72E0D1B27A}"/>
              </a:ext>
            </a:extLst>
          </p:cNvPr>
          <p:cNvSpPr txBox="1"/>
          <p:nvPr/>
        </p:nvSpPr>
        <p:spPr>
          <a:xfrm>
            <a:off x="3281082" y="2528047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Pic in mobile</a:t>
            </a:r>
          </a:p>
        </p:txBody>
      </p:sp>
    </p:spTree>
    <p:extLst>
      <p:ext uri="{BB962C8B-B14F-4D97-AF65-F5344CB8AC3E}">
        <p14:creationId xmlns:p14="http://schemas.microsoft.com/office/powerpoint/2010/main" val="1690241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45320-E0C5-416A-9640-4663D56E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Fundamental of Machine Learning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E3FDA8-4112-4D88-836D-905C9FC5D478}"/>
              </a:ext>
            </a:extLst>
          </p:cNvPr>
          <p:cNvSpPr txBox="1"/>
          <p:nvPr/>
        </p:nvSpPr>
        <p:spPr>
          <a:xfrm>
            <a:off x="3151991" y="2592593"/>
            <a:ext cx="638796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Supervised vs Unsupervised vs self-supervised vs semi-supervised</a:t>
            </a:r>
          </a:p>
          <a:p>
            <a:r>
              <a:rPr lang="en-US" dirty="0"/>
              <a:t>Classical Machine Learning</a:t>
            </a:r>
          </a:p>
          <a:p>
            <a:r>
              <a:rPr lang="en-US" dirty="0"/>
              <a:t>Regression (real value)</a:t>
            </a:r>
          </a:p>
          <a:p>
            <a:r>
              <a:rPr lang="en-US" dirty="0"/>
              <a:t>Classification (categories)</a:t>
            </a:r>
          </a:p>
          <a:p>
            <a:r>
              <a:rPr lang="en-US" dirty="0"/>
              <a:t>Support Vector Machine (SVM )</a:t>
            </a:r>
          </a:p>
          <a:p>
            <a:r>
              <a:rPr lang="en-US" dirty="0"/>
              <a:t>Clustering</a:t>
            </a:r>
          </a:p>
          <a:p>
            <a:r>
              <a:rPr lang="en-US" dirty="0"/>
              <a:t>Decision-Tree</a:t>
            </a:r>
          </a:p>
          <a:p>
            <a:r>
              <a:rPr lang="en-US" dirty="0"/>
              <a:t>Reinforcement Learning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239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F3315-8C29-49C6-82D2-54E1F1A97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 Requirements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06ECC0-16DA-47A8-A7E3-38D9506CABC6}"/>
              </a:ext>
            </a:extLst>
          </p:cNvPr>
          <p:cNvSpPr txBox="1"/>
          <p:nvPr/>
        </p:nvSpPr>
        <p:spPr>
          <a:xfrm>
            <a:off x="2183802" y="2438399"/>
            <a:ext cx="672171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you need deep understanding which is not required for most of </a:t>
            </a:r>
            <a:r>
              <a:rPr lang="en-US" dirty="0" err="1"/>
              <a:t>eng.</a:t>
            </a:r>
            <a:endParaRPr lang="en-US" dirty="0"/>
          </a:p>
          <a:p>
            <a:r>
              <a:rPr lang="en-US" dirty="0"/>
              <a:t>Linear Algebra</a:t>
            </a:r>
          </a:p>
          <a:p>
            <a:r>
              <a:rPr lang="en-US" dirty="0"/>
              <a:t>Probability</a:t>
            </a:r>
          </a:p>
          <a:p>
            <a:r>
              <a:rPr lang="en-US" dirty="0"/>
              <a:t>Statistic</a:t>
            </a:r>
          </a:p>
          <a:p>
            <a:r>
              <a:rPr lang="en-US" dirty="0"/>
              <a:t>Calculus</a:t>
            </a:r>
          </a:p>
          <a:p>
            <a:r>
              <a:rPr lang="en-US" dirty="0"/>
              <a:t>Differential Equations</a:t>
            </a:r>
          </a:p>
          <a:p>
            <a:r>
              <a:rPr lang="en-US" dirty="0"/>
              <a:t>Engineering Mathematic</a:t>
            </a:r>
          </a:p>
          <a:p>
            <a:r>
              <a:rPr lang="en-US" dirty="0"/>
              <a:t>Signal and system</a:t>
            </a:r>
          </a:p>
          <a:p>
            <a:r>
              <a:rPr lang="en-US" dirty="0"/>
              <a:t>Information Theory</a:t>
            </a:r>
          </a:p>
        </p:txBody>
      </p:sp>
    </p:spTree>
    <p:extLst>
      <p:ext uri="{BB962C8B-B14F-4D97-AF65-F5344CB8AC3E}">
        <p14:creationId xmlns:p14="http://schemas.microsoft.com/office/powerpoint/2010/main" val="358362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45320-E0C5-416A-9640-4663D56E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Fundamental of Neural Network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DF1E78-169E-4B90-8D16-C9756A3D80FF}"/>
              </a:ext>
            </a:extLst>
          </p:cNvPr>
          <p:cNvSpPr txBox="1"/>
          <p:nvPr/>
        </p:nvSpPr>
        <p:spPr>
          <a:xfrm>
            <a:off x="3227294" y="2678654"/>
            <a:ext cx="179568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Computer Vision</a:t>
            </a:r>
          </a:p>
          <a:p>
            <a:r>
              <a:rPr lang="en-US" dirty="0"/>
              <a:t>Classification</a:t>
            </a:r>
          </a:p>
          <a:p>
            <a:r>
              <a:rPr lang="en-US" dirty="0"/>
              <a:t>Regression</a:t>
            </a:r>
          </a:p>
          <a:p>
            <a:r>
              <a:rPr lang="en-US" dirty="0"/>
              <a:t>CNN</a:t>
            </a:r>
          </a:p>
          <a:p>
            <a:r>
              <a:rPr lang="en-US" dirty="0"/>
              <a:t>RNN</a:t>
            </a:r>
          </a:p>
          <a:p>
            <a:r>
              <a:rPr lang="en-US" dirty="0"/>
              <a:t>Transformers</a:t>
            </a:r>
          </a:p>
          <a:p>
            <a:r>
              <a:rPr lang="en-US" dirty="0"/>
              <a:t>Autoencoders</a:t>
            </a:r>
          </a:p>
          <a:p>
            <a:r>
              <a:rPr lang="en-US" dirty="0"/>
              <a:t>GAN</a:t>
            </a:r>
          </a:p>
          <a:p>
            <a:r>
              <a:rPr lang="en-US" dirty="0"/>
              <a:t>Diffusion Models</a:t>
            </a:r>
          </a:p>
        </p:txBody>
      </p:sp>
    </p:spTree>
    <p:extLst>
      <p:ext uri="{BB962C8B-B14F-4D97-AF65-F5344CB8AC3E}">
        <p14:creationId xmlns:p14="http://schemas.microsoft.com/office/powerpoint/2010/main" val="3475745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55F76-1ECF-4557-80DB-4ADBDE86C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Framework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85718B-DFC8-4755-A4FB-5E62C4A988EB}"/>
              </a:ext>
            </a:extLst>
          </p:cNvPr>
          <p:cNvSpPr txBox="1"/>
          <p:nvPr/>
        </p:nvSpPr>
        <p:spPr>
          <a:xfrm>
            <a:off x="3270325" y="2581835"/>
            <a:ext cx="13628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SciKit</a:t>
            </a:r>
            <a:r>
              <a:rPr lang="en-US" dirty="0"/>
              <a:t>-Learn</a:t>
            </a:r>
          </a:p>
          <a:p>
            <a:r>
              <a:rPr lang="en-US" dirty="0" err="1"/>
              <a:t>PyTorch</a:t>
            </a:r>
            <a:endParaRPr lang="en-US" dirty="0"/>
          </a:p>
          <a:p>
            <a:r>
              <a:rPr lang="en-US" dirty="0"/>
              <a:t>TensorFlow</a:t>
            </a:r>
          </a:p>
        </p:txBody>
      </p:sp>
    </p:spTree>
    <p:extLst>
      <p:ext uri="{BB962C8B-B14F-4D97-AF65-F5344CB8AC3E}">
        <p14:creationId xmlns:p14="http://schemas.microsoft.com/office/powerpoint/2010/main" val="2571198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C5530-BDC2-49FC-BF59-52212E61D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Tokens and Embeddings</a:t>
            </a:r>
          </a:p>
        </p:txBody>
      </p:sp>
    </p:spTree>
    <p:extLst>
      <p:ext uri="{BB962C8B-B14F-4D97-AF65-F5344CB8AC3E}">
        <p14:creationId xmlns:p14="http://schemas.microsoft.com/office/powerpoint/2010/main" val="3829470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4464F-84B8-4914-9342-9F07DBB69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Text/Vision Embedding Model</a:t>
            </a:r>
          </a:p>
        </p:txBody>
      </p:sp>
    </p:spTree>
    <p:extLst>
      <p:ext uri="{BB962C8B-B14F-4D97-AF65-F5344CB8AC3E}">
        <p14:creationId xmlns:p14="http://schemas.microsoft.com/office/powerpoint/2010/main" val="3697167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98696-A01D-4E4A-8F05-DFCD1913E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Language Models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69881E-6BDA-4F95-9D1C-BE89781ACF90}"/>
              </a:ext>
            </a:extLst>
          </p:cNvPr>
          <p:cNvSpPr txBox="1"/>
          <p:nvPr/>
        </p:nvSpPr>
        <p:spPr>
          <a:xfrm>
            <a:off x="3195021" y="3098202"/>
            <a:ext cx="34513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Emergent Behaviors</a:t>
            </a:r>
          </a:p>
          <a:p>
            <a:r>
              <a:rPr lang="en-US" dirty="0"/>
              <a:t>Context size – window size</a:t>
            </a:r>
          </a:p>
          <a:p>
            <a:r>
              <a:rPr lang="en-US" dirty="0"/>
              <a:t>Chain-of-thought (COT) – thinking</a:t>
            </a:r>
          </a:p>
          <a:p>
            <a:r>
              <a:rPr lang="en-US" dirty="0"/>
              <a:t>Hugging face website</a:t>
            </a:r>
          </a:p>
        </p:txBody>
      </p:sp>
    </p:spTree>
    <p:extLst>
      <p:ext uri="{BB962C8B-B14F-4D97-AF65-F5344CB8AC3E}">
        <p14:creationId xmlns:p14="http://schemas.microsoft.com/office/powerpoint/2010/main" val="1215789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CD1D0-5BD5-4E2D-A8D1-1E5599708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2189" y="330798"/>
            <a:ext cx="10018713" cy="691179"/>
          </a:xfrm>
        </p:spPr>
        <p:txBody>
          <a:bodyPr>
            <a:normAutofit fontScale="90000"/>
          </a:bodyPr>
          <a:lstStyle/>
          <a:p>
            <a:r>
              <a:rPr lang="en-US" dirty="0"/>
              <a:t>How they Train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0354BB-9A97-4FE7-BD8D-394980EE8BE0}"/>
              </a:ext>
            </a:extLst>
          </p:cNvPr>
          <p:cNvSpPr txBox="1"/>
          <p:nvPr/>
        </p:nvSpPr>
        <p:spPr>
          <a:xfrm>
            <a:off x="2538806" y="1021977"/>
            <a:ext cx="8882560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Supervised and self-supervised </a:t>
            </a:r>
          </a:p>
          <a:p>
            <a:r>
              <a:rPr lang="en-US" dirty="0"/>
              <a:t>Foundation Models or Base Models</a:t>
            </a:r>
          </a:p>
          <a:p>
            <a:r>
              <a:rPr lang="en-US" dirty="0"/>
              <a:t>Pre-Training using self-supervision</a:t>
            </a:r>
          </a:p>
          <a:p>
            <a:r>
              <a:rPr lang="en-US" dirty="0"/>
              <a:t>They are good for just Text completion not conversation and following the instruction</a:t>
            </a:r>
          </a:p>
          <a:p>
            <a:r>
              <a:rPr lang="en-US" dirty="0"/>
              <a:t>Post-Training: page.78 Ai Eng. book</a:t>
            </a:r>
          </a:p>
          <a:p>
            <a:r>
              <a:rPr lang="en-US" dirty="0"/>
              <a:t>1 - supervised finetuning (SFT) on instruction dataset , instruction tuning</a:t>
            </a:r>
          </a:p>
          <a:p>
            <a:r>
              <a:rPr lang="en-US" dirty="0"/>
              <a:t>2 – Preference finetuning(further finetune)</a:t>
            </a:r>
          </a:p>
          <a:p>
            <a:r>
              <a:rPr lang="en-US" dirty="0"/>
              <a:t>	- this is done with reinforcement learning RL from human feedback (RLHF)</a:t>
            </a:r>
          </a:p>
          <a:p>
            <a:r>
              <a:rPr lang="en-US" dirty="0"/>
              <a:t>	- RLHF relies on a reward model</a:t>
            </a:r>
          </a:p>
          <a:p>
            <a:r>
              <a:rPr lang="en-US" dirty="0"/>
              <a:t>	- RL from AI feedback (RLAIF)</a:t>
            </a:r>
          </a:p>
          <a:p>
            <a:r>
              <a:rPr lang="en-US" dirty="0"/>
              <a:t>Preference finetuning: 1) train a reward model 2) optimize the foundation model to get high</a:t>
            </a:r>
          </a:p>
          <a:p>
            <a:r>
              <a:rPr lang="en-US" dirty="0"/>
              <a:t>score</a:t>
            </a:r>
          </a:p>
          <a:p>
            <a:r>
              <a:rPr lang="en-US" dirty="0"/>
              <a:t>align with human preference</a:t>
            </a:r>
          </a:p>
          <a:p>
            <a:endParaRPr lang="en-US" dirty="0"/>
          </a:p>
          <a:p>
            <a:r>
              <a:rPr lang="en-US" dirty="0"/>
              <a:t>Preference Dataset for safety compliance</a:t>
            </a:r>
          </a:p>
          <a:p>
            <a:r>
              <a:rPr lang="en-US" dirty="0"/>
              <a:t>Alignment dataset</a:t>
            </a:r>
          </a:p>
          <a:p>
            <a:r>
              <a:rPr lang="en-US" dirty="0"/>
              <a:t>Reinforcement Learning with human in the loop</a:t>
            </a:r>
          </a:p>
          <a:p>
            <a:r>
              <a:rPr lang="en-US" dirty="0"/>
              <a:t>LLM-as-a-judge or synthetic data</a:t>
            </a:r>
          </a:p>
          <a:p>
            <a:r>
              <a:rPr lang="en-US" dirty="0"/>
              <a:t>Obliterate</a:t>
            </a:r>
          </a:p>
          <a:p>
            <a:r>
              <a:rPr lang="en-US" dirty="0"/>
              <a:t>Quantization and Inference Optimization</a:t>
            </a:r>
          </a:p>
        </p:txBody>
      </p:sp>
    </p:spTree>
    <p:extLst>
      <p:ext uri="{BB962C8B-B14F-4D97-AF65-F5344CB8AC3E}">
        <p14:creationId xmlns:p14="http://schemas.microsoft.com/office/powerpoint/2010/main" val="4181661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2D78AA-C7C6-4320-BC12-CA3E057D7B1A}"/>
              </a:ext>
            </a:extLst>
          </p:cNvPr>
          <p:cNvSpPr txBox="1"/>
          <p:nvPr/>
        </p:nvSpPr>
        <p:spPr>
          <a:xfrm>
            <a:off x="2173045" y="645459"/>
            <a:ext cx="46289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Text Classification: sentiment of movie reviews</a:t>
            </a:r>
          </a:p>
          <a:p>
            <a:r>
              <a:rPr lang="en-US" dirty="0"/>
              <a:t>Text classification with representation models</a:t>
            </a:r>
          </a:p>
          <a:p>
            <a:r>
              <a:rPr lang="en-US" dirty="0"/>
              <a:t>Text classification with generative models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89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3909C-C1A2-4DF6-8314-BD7CC0B1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of Training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798148-4836-4757-B909-517919B213B1}"/>
              </a:ext>
            </a:extLst>
          </p:cNvPr>
          <p:cNvSpPr txBox="1"/>
          <p:nvPr/>
        </p:nvSpPr>
        <p:spPr>
          <a:xfrm>
            <a:off x="2538805" y="2840019"/>
            <a:ext cx="44133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Recruiting labelers</a:t>
            </a:r>
          </a:p>
          <a:p>
            <a:r>
              <a:rPr lang="en-US" dirty="0"/>
              <a:t>Data quality control</a:t>
            </a:r>
          </a:p>
          <a:p>
            <a:r>
              <a:rPr lang="en-US" dirty="0"/>
              <a:t>Instruction need person with critical thinking</a:t>
            </a:r>
          </a:p>
          <a:p>
            <a:r>
              <a:rPr lang="en-US" dirty="0"/>
              <a:t>p.82 – ai engineering</a:t>
            </a:r>
          </a:p>
        </p:txBody>
      </p:sp>
    </p:spTree>
    <p:extLst>
      <p:ext uri="{BB962C8B-B14F-4D97-AF65-F5344CB8AC3E}">
        <p14:creationId xmlns:p14="http://schemas.microsoft.com/office/powerpoint/2010/main" val="3872780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919AB2F-E94D-441E-80B4-5712C3339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Dataset and samples</a:t>
            </a:r>
          </a:p>
        </p:txBody>
      </p:sp>
    </p:spTree>
    <p:extLst>
      <p:ext uri="{BB962C8B-B14F-4D97-AF65-F5344CB8AC3E}">
        <p14:creationId xmlns:p14="http://schemas.microsoft.com/office/powerpoint/2010/main" val="3869140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06A63-FF83-4743-832D-FBEA1D16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</a:t>
            </a:r>
          </a:p>
        </p:txBody>
      </p:sp>
    </p:spTree>
    <p:extLst>
      <p:ext uri="{BB962C8B-B14F-4D97-AF65-F5344CB8AC3E}">
        <p14:creationId xmlns:p14="http://schemas.microsoft.com/office/powerpoint/2010/main" val="5623500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DFAF5-F72C-44EF-9A96-8C3FA5E94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83630-9C53-4498-9B09-BE10D24ED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Domain-Specific Model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92016D-74D7-4A78-99B6-FF47DB2861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EA0007-A05D-4965-8477-289E169C07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General-Purpose Model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6FA324-A803-423E-8DED-87D3C889EB6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4031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7246E-88FC-4633-ADD7-047C3B8FC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EF43E-C0A9-4396-B899-C9C32C1398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DA8A0F-368E-4A1D-803F-8119ED1ED62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A5D8F0-5F4D-4B7F-AC72-9F023BF9B5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External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80DBE1-C582-43FD-83FC-0D356DEE0F7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621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2A40-8989-4BEB-8B76-D1D091129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Search &amp; RAG</a:t>
            </a:r>
          </a:p>
        </p:txBody>
      </p:sp>
    </p:spTree>
    <p:extLst>
      <p:ext uri="{BB962C8B-B14F-4D97-AF65-F5344CB8AC3E}">
        <p14:creationId xmlns:p14="http://schemas.microsoft.com/office/powerpoint/2010/main" val="19657633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84383-14AD-42EE-9274-7E4A69E81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E548A-C278-4ABE-B4C1-CCA93FC1E2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Embeddings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16C70A-9A5C-44B1-A28F-D379B9AF208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084403-7D5D-4F80-ACDE-AF504C55A2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Generative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C59024-5B64-45FD-BEBD-1269299BD74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4482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82211-8B7C-47AD-855C-7F4BD0328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1B387-4446-43D2-A1FB-287052DD2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 to Speech (TTS)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B0F3A6-A61D-41D6-A24A-7DDB0C75C9B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Open Ai </a:t>
            </a:r>
          </a:p>
          <a:p>
            <a:r>
              <a:rPr lang="en-US" dirty="0"/>
              <a:t>Google </a:t>
            </a:r>
          </a:p>
          <a:p>
            <a:r>
              <a:rPr lang="en-US" dirty="0"/>
              <a:t>Element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4B44CF-BABD-494F-9B52-E723151C71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Speech to Text (STT)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6B3E48-34D7-476A-BAF3-5C3F0C6C88A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Whisper</a:t>
            </a:r>
          </a:p>
          <a:p>
            <a:r>
              <a:rPr lang="en-US" dirty="0"/>
              <a:t>open sources</a:t>
            </a:r>
          </a:p>
        </p:txBody>
      </p:sp>
    </p:spTree>
    <p:extLst>
      <p:ext uri="{BB962C8B-B14F-4D97-AF65-F5344CB8AC3E}">
        <p14:creationId xmlns:p14="http://schemas.microsoft.com/office/powerpoint/2010/main" val="40859586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6BCC0-2982-4AFF-B126-834B57FC8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Multimodal Models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4CBADC-25C8-40F4-A65B-DA9DB01215F2}"/>
              </a:ext>
            </a:extLst>
          </p:cNvPr>
          <p:cNvSpPr txBox="1"/>
          <p:nvPr/>
        </p:nvSpPr>
        <p:spPr>
          <a:xfrm>
            <a:off x="2926080" y="2753958"/>
            <a:ext cx="376417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Vision transformers (ViT)</a:t>
            </a:r>
          </a:p>
          <a:p>
            <a:r>
              <a:rPr lang="en-US" dirty="0"/>
              <a:t>CLIP model</a:t>
            </a:r>
          </a:p>
          <a:p>
            <a:r>
              <a:rPr lang="en-US" dirty="0"/>
              <a:t>LLM</a:t>
            </a:r>
          </a:p>
          <a:p>
            <a:r>
              <a:rPr lang="en-US" dirty="0"/>
              <a:t>VLM</a:t>
            </a:r>
          </a:p>
          <a:p>
            <a:r>
              <a:rPr lang="en-US" dirty="0"/>
              <a:t>MLM</a:t>
            </a:r>
          </a:p>
          <a:p>
            <a:endParaRPr lang="en-US" dirty="0"/>
          </a:p>
          <a:p>
            <a:r>
              <a:rPr lang="en-US" dirty="0"/>
              <a:t>And its diff with Multimodal Projector</a:t>
            </a:r>
          </a:p>
        </p:txBody>
      </p:sp>
    </p:spTree>
    <p:extLst>
      <p:ext uri="{BB962C8B-B14F-4D97-AF65-F5344CB8AC3E}">
        <p14:creationId xmlns:p14="http://schemas.microsoft.com/office/powerpoint/2010/main" val="1794558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2342D-D619-4A01-B4B9-05CC476C4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 LLM </a:t>
            </a:r>
            <a:r>
              <a:rPr lang="en-US" dirty="0" err="1"/>
              <a:t>Privers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4ADD2-5D01-4553-B427-B7B027642AE5}"/>
              </a:ext>
            </a:extLst>
          </p:cNvPr>
          <p:cNvSpPr txBox="1"/>
          <p:nvPr/>
        </p:nvSpPr>
        <p:spPr>
          <a:xfrm>
            <a:off x="2259106" y="2926080"/>
            <a:ext cx="391280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OpenAI</a:t>
            </a:r>
            <a:r>
              <a:rPr lang="en-US" dirty="0"/>
              <a:t> – GPT &amp; Whisper</a:t>
            </a:r>
          </a:p>
          <a:p>
            <a:r>
              <a:rPr lang="en-US" dirty="0" err="1"/>
              <a:t>Antrophic</a:t>
            </a:r>
            <a:r>
              <a:rPr lang="en-US" dirty="0"/>
              <a:t> – Claude Opus/Sonnet/</a:t>
            </a:r>
            <a:r>
              <a:rPr lang="en-US" dirty="0" err="1"/>
              <a:t>Haidu</a:t>
            </a:r>
            <a:endParaRPr lang="en-US" dirty="0"/>
          </a:p>
          <a:p>
            <a:r>
              <a:rPr lang="en-US" dirty="0"/>
              <a:t>Google – Gemini – Gemma</a:t>
            </a:r>
          </a:p>
          <a:p>
            <a:r>
              <a:rPr lang="en-US" dirty="0"/>
              <a:t>Meta(Facebook) – Llama 3B 7B ….</a:t>
            </a:r>
          </a:p>
          <a:p>
            <a:r>
              <a:rPr lang="en-US" dirty="0"/>
              <a:t>What is size in model </a:t>
            </a:r>
          </a:p>
          <a:p>
            <a:endParaRPr lang="en-US" dirty="0"/>
          </a:p>
          <a:p>
            <a:r>
              <a:rPr lang="en-US" dirty="0"/>
              <a:t>Chinese:</a:t>
            </a:r>
          </a:p>
          <a:p>
            <a:r>
              <a:rPr lang="en-US" dirty="0"/>
              <a:t>GLM</a:t>
            </a:r>
          </a:p>
          <a:p>
            <a:r>
              <a:rPr lang="en-US" dirty="0"/>
              <a:t>Qwen</a:t>
            </a:r>
          </a:p>
        </p:txBody>
      </p:sp>
    </p:spTree>
    <p:extLst>
      <p:ext uri="{BB962C8B-B14F-4D97-AF65-F5344CB8AC3E}">
        <p14:creationId xmlns:p14="http://schemas.microsoft.com/office/powerpoint/2010/main" val="26911487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F7D4C-609C-4C00-84F7-5EA430701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329797-7002-4784-B3AA-5D8D76CBD00D}"/>
              </a:ext>
            </a:extLst>
          </p:cNvPr>
          <p:cNvSpPr txBox="1"/>
          <p:nvPr/>
        </p:nvSpPr>
        <p:spPr>
          <a:xfrm>
            <a:off x="2441986" y="2438399"/>
            <a:ext cx="2113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Closed End Models</a:t>
            </a:r>
          </a:p>
          <a:p>
            <a:r>
              <a:rPr lang="en-US" dirty="0"/>
              <a:t>Open Ended Models</a:t>
            </a:r>
          </a:p>
        </p:txBody>
      </p:sp>
    </p:spTree>
    <p:extLst>
      <p:ext uri="{BB962C8B-B14F-4D97-AF65-F5344CB8AC3E}">
        <p14:creationId xmlns:p14="http://schemas.microsoft.com/office/powerpoint/2010/main" val="32227572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F7FE0-8144-4EE4-86EE-14D61F1E3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Source LLMs [Models]</a:t>
            </a:r>
          </a:p>
        </p:txBody>
      </p:sp>
    </p:spTree>
    <p:extLst>
      <p:ext uri="{BB962C8B-B14F-4D97-AF65-F5344CB8AC3E}">
        <p14:creationId xmlns:p14="http://schemas.microsoft.com/office/powerpoint/2010/main" val="23545445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389B4-9605-4FC0-955A-994EE87EC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Agent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4E1087-AB56-4567-B608-C345519E39A0}"/>
              </a:ext>
            </a:extLst>
          </p:cNvPr>
          <p:cNvSpPr txBox="1"/>
          <p:nvPr/>
        </p:nvSpPr>
        <p:spPr>
          <a:xfrm>
            <a:off x="2571078" y="2517289"/>
            <a:ext cx="3875676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they act and work:</a:t>
            </a:r>
          </a:p>
          <a:p>
            <a:r>
              <a:rPr lang="en-US" dirty="0"/>
              <a:t>What is their Brain</a:t>
            </a:r>
          </a:p>
          <a:p>
            <a:r>
              <a:rPr lang="en-US" dirty="0"/>
              <a:t>Coding Models like Qwen coder and ….</a:t>
            </a:r>
          </a:p>
          <a:p>
            <a:endParaRPr lang="en-US" dirty="0"/>
          </a:p>
          <a:p>
            <a:r>
              <a:rPr lang="en-US" dirty="0"/>
              <a:t>Top most:</a:t>
            </a:r>
          </a:p>
          <a:p>
            <a:r>
              <a:rPr lang="en-US" dirty="0"/>
              <a:t>Claude Code (cloud and local)</a:t>
            </a:r>
          </a:p>
          <a:p>
            <a:r>
              <a:rPr lang="en-US" dirty="0"/>
              <a:t>Codex</a:t>
            </a:r>
          </a:p>
          <a:p>
            <a:r>
              <a:rPr lang="en-US" dirty="0"/>
              <a:t>Cursor</a:t>
            </a:r>
          </a:p>
          <a:p>
            <a:r>
              <a:rPr lang="en-US" dirty="0"/>
              <a:t>GitHub Copilot</a:t>
            </a:r>
          </a:p>
          <a:p>
            <a:r>
              <a:rPr lang="en-US" dirty="0"/>
              <a:t>Gemini CLI</a:t>
            </a:r>
          </a:p>
        </p:txBody>
      </p:sp>
    </p:spTree>
    <p:extLst>
      <p:ext uri="{BB962C8B-B14F-4D97-AF65-F5344CB8AC3E}">
        <p14:creationId xmlns:p14="http://schemas.microsoft.com/office/powerpoint/2010/main" val="11187798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35BA0-4942-40F5-A49D-1E2F74340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Frameworks &amp; Tools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2EA516-EA4D-475B-B192-8BBF9B211273}"/>
              </a:ext>
            </a:extLst>
          </p:cNvPr>
          <p:cNvSpPr txBox="1"/>
          <p:nvPr/>
        </p:nvSpPr>
        <p:spPr>
          <a:xfrm>
            <a:off x="2528047" y="2657139"/>
            <a:ext cx="192264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LangChain</a:t>
            </a:r>
            <a:endParaRPr lang="en-US" dirty="0"/>
          </a:p>
          <a:p>
            <a:r>
              <a:rPr lang="en-US" dirty="0"/>
              <a:t>LangGraph</a:t>
            </a:r>
          </a:p>
          <a:p>
            <a:r>
              <a:rPr lang="en-US" dirty="0" err="1"/>
              <a:t>AutoGen</a:t>
            </a:r>
            <a:endParaRPr lang="en-US" dirty="0"/>
          </a:p>
          <a:p>
            <a:r>
              <a:rPr lang="en-US" dirty="0" err="1"/>
              <a:t>CrewAi</a:t>
            </a:r>
            <a:endParaRPr lang="en-US" dirty="0"/>
          </a:p>
          <a:p>
            <a:r>
              <a:rPr lang="en-US" dirty="0"/>
              <a:t>AI Assistant</a:t>
            </a:r>
          </a:p>
          <a:p>
            <a:r>
              <a:rPr lang="en-US" dirty="0" err="1"/>
              <a:t>OpenClaw</a:t>
            </a:r>
            <a:endParaRPr lang="en-US" dirty="0"/>
          </a:p>
          <a:p>
            <a:r>
              <a:rPr lang="en-US" dirty="0"/>
              <a:t>Hermes</a:t>
            </a:r>
          </a:p>
          <a:p>
            <a:r>
              <a:rPr lang="en-US" dirty="0" err="1"/>
              <a:t>Api</a:t>
            </a:r>
            <a:r>
              <a:rPr lang="en-US" dirty="0"/>
              <a:t> Token or Local</a:t>
            </a:r>
          </a:p>
        </p:txBody>
      </p:sp>
    </p:spTree>
    <p:extLst>
      <p:ext uri="{BB962C8B-B14F-4D97-AF65-F5344CB8AC3E}">
        <p14:creationId xmlns:p14="http://schemas.microsoft.com/office/powerpoint/2010/main" val="6119016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86FF4-8D88-4A57-A62A-AC25C5935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LLM App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656AB2-1138-4EAE-A8A4-0972969B8FD1}"/>
              </a:ext>
            </a:extLst>
          </p:cNvPr>
          <p:cNvSpPr txBox="1"/>
          <p:nvPr/>
        </p:nvSpPr>
        <p:spPr>
          <a:xfrm>
            <a:off x="2635624" y="2743200"/>
            <a:ext cx="12362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Ollama</a:t>
            </a:r>
          </a:p>
          <a:p>
            <a:r>
              <a:rPr lang="en-US" dirty="0"/>
              <a:t>LM Studio</a:t>
            </a:r>
          </a:p>
          <a:p>
            <a:r>
              <a:rPr lang="en-US" dirty="0"/>
              <a:t>Llama.CPP</a:t>
            </a:r>
          </a:p>
        </p:txBody>
      </p:sp>
    </p:spTree>
    <p:extLst>
      <p:ext uri="{BB962C8B-B14F-4D97-AF65-F5344CB8AC3E}">
        <p14:creationId xmlns:p14="http://schemas.microsoft.com/office/powerpoint/2010/main" val="30035384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CA12E-0B97-43B5-9368-0D8173DC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Engineer vs. AI Engineer</a:t>
            </a:r>
          </a:p>
        </p:txBody>
      </p:sp>
    </p:spTree>
    <p:extLst>
      <p:ext uri="{BB962C8B-B14F-4D97-AF65-F5344CB8AC3E}">
        <p14:creationId xmlns:p14="http://schemas.microsoft.com/office/powerpoint/2010/main" val="12880847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F064D-61D3-4A64-A699-D71F7DC93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</a:t>
            </a:r>
            <a:r>
              <a:rPr lang="en-US"/>
              <a:t>/Context </a:t>
            </a:r>
            <a:r>
              <a:rPr lang="en-US" dirty="0"/>
              <a:t>Engineering</a:t>
            </a:r>
          </a:p>
        </p:txBody>
      </p:sp>
    </p:spTree>
    <p:extLst>
      <p:ext uri="{BB962C8B-B14F-4D97-AF65-F5344CB8AC3E}">
        <p14:creationId xmlns:p14="http://schemas.microsoft.com/office/powerpoint/2010/main" val="24327486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13F34-EE72-4DE9-807D-74CB417FD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Prompting vs RAG vs Fine-tuning</a:t>
            </a:r>
          </a:p>
        </p:txBody>
      </p:sp>
    </p:spTree>
    <p:extLst>
      <p:ext uri="{BB962C8B-B14F-4D97-AF65-F5344CB8AC3E}">
        <p14:creationId xmlns:p14="http://schemas.microsoft.com/office/powerpoint/2010/main" val="1207067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69AB7-0077-42E6-9B40-C48BB0F70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Name Conventions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8E3778-341B-4C6F-9D0C-448FA676CF5C}"/>
              </a:ext>
            </a:extLst>
          </p:cNvPr>
          <p:cNvSpPr txBox="1"/>
          <p:nvPr/>
        </p:nvSpPr>
        <p:spPr>
          <a:xfrm>
            <a:off x="2334409" y="2438399"/>
            <a:ext cx="284699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Parameter Size - Q4 – MN – </a:t>
            </a:r>
          </a:p>
          <a:p>
            <a:r>
              <a:rPr lang="en-US" dirty="0"/>
              <a:t>uncensored</a:t>
            </a:r>
          </a:p>
          <a:p>
            <a:r>
              <a:rPr lang="en-US" dirty="0"/>
              <a:t>Obliterated</a:t>
            </a:r>
          </a:p>
          <a:p>
            <a:r>
              <a:rPr lang="en-US" dirty="0"/>
              <a:t>VRAM </a:t>
            </a:r>
          </a:p>
          <a:p>
            <a:r>
              <a:rPr lang="en-US" dirty="0"/>
              <a:t>Devices like Nvidia </a:t>
            </a:r>
          </a:p>
        </p:txBody>
      </p:sp>
    </p:spTree>
    <p:extLst>
      <p:ext uri="{BB962C8B-B14F-4D97-AF65-F5344CB8AC3E}">
        <p14:creationId xmlns:p14="http://schemas.microsoft.com/office/powerpoint/2010/main" val="7003704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489A1-5C2C-43FD-AE2E-EE505BF84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RAG</a:t>
            </a:r>
            <a:br>
              <a:rPr lang="en-US" dirty="0"/>
            </a:br>
            <a:r>
              <a:rPr lang="en-US" dirty="0"/>
              <a:t>Retrieval Augmented Generation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1BA4C7-89C3-47AC-82F1-F52CCBB2660A}"/>
              </a:ext>
            </a:extLst>
          </p:cNvPr>
          <p:cNvSpPr txBox="1"/>
          <p:nvPr/>
        </p:nvSpPr>
        <p:spPr>
          <a:xfrm>
            <a:off x="2345167" y="2764715"/>
            <a:ext cx="1153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Reranking</a:t>
            </a:r>
          </a:p>
        </p:txBody>
      </p:sp>
    </p:spTree>
    <p:extLst>
      <p:ext uri="{BB962C8B-B14F-4D97-AF65-F5344CB8AC3E}">
        <p14:creationId xmlns:p14="http://schemas.microsoft.com/office/powerpoint/2010/main" val="11520495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12F3E-EF15-4DAE-A678-9588F4012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Fine-tunning Techniques</a:t>
            </a:r>
          </a:p>
        </p:txBody>
      </p:sp>
    </p:spTree>
    <p:extLst>
      <p:ext uri="{BB962C8B-B14F-4D97-AF65-F5344CB8AC3E}">
        <p14:creationId xmlns:p14="http://schemas.microsoft.com/office/powerpoint/2010/main" val="13100060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1D535-12E1-4EE1-B33D-A55EE18FA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Optimization</a:t>
            </a:r>
          </a:p>
        </p:txBody>
      </p:sp>
    </p:spTree>
    <p:extLst>
      <p:ext uri="{BB962C8B-B14F-4D97-AF65-F5344CB8AC3E}">
        <p14:creationId xmlns:p14="http://schemas.microsoft.com/office/powerpoint/2010/main" val="35127753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4051B-84E4-4DD9-925F-8DCF7123D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Benchmarks and Evaluations</a:t>
            </a:r>
          </a:p>
        </p:txBody>
      </p:sp>
    </p:spTree>
    <p:extLst>
      <p:ext uri="{BB962C8B-B14F-4D97-AF65-F5344CB8AC3E}">
        <p14:creationId xmlns:p14="http://schemas.microsoft.com/office/powerpoint/2010/main" val="5318021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6F910-6F96-4D84-81A7-84CACBC4B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MCP Protocol/Servers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DC9BAE-3538-4AEB-BCC1-5464ADBAED95}"/>
              </a:ext>
            </a:extLst>
          </p:cNvPr>
          <p:cNvSpPr txBox="1"/>
          <p:nvPr/>
        </p:nvSpPr>
        <p:spPr>
          <a:xfrm>
            <a:off x="3033656" y="2872292"/>
            <a:ext cx="664117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Introduce Tools to MCP server </a:t>
            </a:r>
          </a:p>
          <a:p>
            <a:r>
              <a:rPr lang="en-US" dirty="0"/>
              <a:t>Agent to use Tools</a:t>
            </a:r>
          </a:p>
          <a:p>
            <a:r>
              <a:rPr lang="en-US" dirty="0"/>
              <a:t>LLM alone can not do act</a:t>
            </a:r>
          </a:p>
          <a:p>
            <a:r>
              <a:rPr lang="en-US" dirty="0"/>
              <a:t>Agent with brain(LLM) and actuator(Tools) have actions</a:t>
            </a:r>
          </a:p>
          <a:p>
            <a:r>
              <a:rPr lang="en-US" dirty="0"/>
              <a:t>This is Main IT team job to make tools and apps accessible to Agents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8034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C9FC5-A4E1-42A1-951F-2F7DA9DA2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LLM: Chatbot vs. Reasoning Engine</a:t>
            </a:r>
          </a:p>
        </p:txBody>
      </p:sp>
    </p:spTree>
    <p:extLst>
      <p:ext uri="{BB962C8B-B14F-4D97-AF65-F5344CB8AC3E}">
        <p14:creationId xmlns:p14="http://schemas.microsoft.com/office/powerpoint/2010/main" val="24690247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DF366-659F-4AF3-8B52-7047D9C63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Pipelines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D04747-0B76-4F1C-AAE7-5863AB6A0DBF}"/>
              </a:ext>
            </a:extLst>
          </p:cNvPr>
          <p:cNvSpPr txBox="1"/>
          <p:nvPr/>
        </p:nvSpPr>
        <p:spPr>
          <a:xfrm>
            <a:off x="3302598" y="2624866"/>
            <a:ext cx="162256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curation</a:t>
            </a:r>
          </a:p>
          <a:p>
            <a:r>
              <a:rPr lang="en-US" dirty="0"/>
              <a:t>Data gathering</a:t>
            </a:r>
          </a:p>
          <a:p>
            <a:r>
              <a:rPr lang="en-US" dirty="0"/>
              <a:t>Data cleaning</a:t>
            </a:r>
          </a:p>
          <a:p>
            <a:r>
              <a:rPr lang="en-US" dirty="0"/>
              <a:t>Train</a:t>
            </a:r>
          </a:p>
          <a:p>
            <a:r>
              <a:rPr lang="en-US" dirty="0"/>
              <a:t>Validation</a:t>
            </a:r>
          </a:p>
          <a:p>
            <a:r>
              <a:rPr lang="en-US" dirty="0"/>
              <a:t>Test</a:t>
            </a:r>
          </a:p>
          <a:p>
            <a:r>
              <a:rPr lang="en-US" dirty="0"/>
              <a:t>Inference</a:t>
            </a:r>
          </a:p>
        </p:txBody>
      </p:sp>
    </p:spTree>
    <p:extLst>
      <p:ext uri="{BB962C8B-B14F-4D97-AF65-F5344CB8AC3E}">
        <p14:creationId xmlns:p14="http://schemas.microsoft.com/office/powerpoint/2010/main" val="36837418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CAAE6-3B59-4ACA-902F-48E386093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3991" y="424680"/>
            <a:ext cx="8930747" cy="1070633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Security</a:t>
            </a:r>
            <a:br>
              <a:rPr lang="en-US" dirty="0"/>
            </a:br>
            <a:r>
              <a:rPr lang="en-US" sz="2400" dirty="0"/>
              <a:t>with great power comes great responsibilities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670CDF-14DA-4512-94BA-E5735F2C2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33990" y="1786756"/>
            <a:ext cx="8930748" cy="860400"/>
          </a:xfrm>
        </p:spPr>
        <p:txBody>
          <a:bodyPr>
            <a:normAutofit lnSpcReduction="10000"/>
          </a:bodyPr>
          <a:lstStyle/>
          <a:p>
            <a:pPr algn="l" rtl="1"/>
            <a:r>
              <a:rPr lang="en-US" dirty="0"/>
              <a:t>Prompt Injection attacks</a:t>
            </a:r>
          </a:p>
          <a:p>
            <a:pPr algn="l" rtl="1"/>
            <a:r>
              <a:rPr lang="en-US" dirty="0"/>
              <a:t>How to make a model forget specific information it has learn during training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0402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0C5C7-45EC-4698-9435-CF0BBB5CC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E1389F-62AC-47CA-A622-A05259B3A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Storing Knowledge</a:t>
            </a:r>
          </a:p>
        </p:txBody>
      </p:sp>
    </p:spTree>
    <p:extLst>
      <p:ext uri="{BB962C8B-B14F-4D97-AF65-F5344CB8AC3E}">
        <p14:creationId xmlns:p14="http://schemas.microsoft.com/office/powerpoint/2010/main" val="37335918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A89E8-6789-47B2-A4DF-58F561AE53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Philosophy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6652F5-0887-419C-A3C8-79CAF444AE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Machine Inference vs Human Intelligence vs Human-Level Intelligence</a:t>
            </a:r>
          </a:p>
        </p:txBody>
      </p:sp>
    </p:spTree>
    <p:extLst>
      <p:ext uri="{BB962C8B-B14F-4D97-AF65-F5344CB8AC3E}">
        <p14:creationId xmlns:p14="http://schemas.microsoft.com/office/powerpoint/2010/main" val="30648398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8642F-A74F-47EE-B44B-D250BD025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as a Backed Infra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C108FA-EC6F-4DD4-97F1-24AD1D69B86A}"/>
              </a:ext>
            </a:extLst>
          </p:cNvPr>
          <p:cNvSpPr txBox="1"/>
          <p:nvPr/>
        </p:nvSpPr>
        <p:spPr>
          <a:xfrm>
            <a:off x="2280621" y="2657139"/>
            <a:ext cx="202818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Picture in mobile</a:t>
            </a:r>
          </a:p>
          <a:p>
            <a:endParaRPr lang="en-US" dirty="0"/>
          </a:p>
          <a:p>
            <a:r>
              <a:rPr lang="en-US" dirty="0"/>
              <a:t>Mac</a:t>
            </a:r>
          </a:p>
          <a:p>
            <a:r>
              <a:rPr lang="en-US" dirty="0"/>
              <a:t>MacBook</a:t>
            </a:r>
          </a:p>
          <a:p>
            <a:r>
              <a:rPr lang="en-US" dirty="0"/>
              <a:t>DGX Spark</a:t>
            </a:r>
          </a:p>
          <a:p>
            <a:r>
              <a:rPr lang="en-US" dirty="0"/>
              <a:t>AMD AI MAX (CPU)</a:t>
            </a:r>
          </a:p>
          <a:p>
            <a:r>
              <a:rPr lang="en-US" dirty="0"/>
              <a:t>RTX 3090 / 5090</a:t>
            </a:r>
          </a:p>
          <a:p>
            <a:r>
              <a:rPr lang="en-US" dirty="0"/>
              <a:t>RTX 6000 (NVidia)</a:t>
            </a:r>
          </a:p>
        </p:txBody>
      </p:sp>
    </p:spTree>
    <p:extLst>
      <p:ext uri="{BB962C8B-B14F-4D97-AF65-F5344CB8AC3E}">
        <p14:creationId xmlns:p14="http://schemas.microsoft.com/office/powerpoint/2010/main" val="18102027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CBBF6-96A1-4A4C-A077-6AB483471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121485"/>
          </a:xfrm>
        </p:spPr>
        <p:txBody>
          <a:bodyPr/>
          <a:lstStyle/>
          <a:p>
            <a:r>
              <a:rPr lang="en-US" dirty="0"/>
              <a:t>Ai Agent Factory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A2819-C57E-4912-86E1-8E0B814585C3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342292" y="1807285"/>
            <a:ext cx="4639422" cy="4102081"/>
          </a:xfrm>
        </p:spPr>
        <p:txBody>
          <a:bodyPr>
            <a:noAutofit/>
          </a:bodyPr>
          <a:lstStyle/>
          <a:p>
            <a:r>
              <a:rPr lang="en-US" sz="1800" dirty="0"/>
              <a:t>Fundamental of Ai Agent framework</a:t>
            </a:r>
          </a:p>
          <a:p>
            <a:r>
              <a:rPr lang="en-US" sz="1800" dirty="0"/>
              <a:t>Building AI Application with Foundation Models</a:t>
            </a:r>
          </a:p>
          <a:p>
            <a:r>
              <a:rPr lang="en-US" sz="1800" dirty="0"/>
              <a:t>Langchain</a:t>
            </a:r>
          </a:p>
          <a:p>
            <a:r>
              <a:rPr lang="en-US" sz="1800" dirty="0"/>
              <a:t>LlamaIndex</a:t>
            </a:r>
          </a:p>
          <a:p>
            <a:r>
              <a:rPr lang="en-US" sz="1800" dirty="0"/>
              <a:t>Tools Callings</a:t>
            </a:r>
          </a:p>
          <a:p>
            <a:r>
              <a:rPr lang="en-US" sz="1800" dirty="0"/>
              <a:t>Steamlit</a:t>
            </a:r>
          </a:p>
          <a:p>
            <a:r>
              <a:rPr lang="en-US" sz="1800" dirty="0"/>
              <a:t>Langchain, LangGraph, LlamaIndex =&gt; code-first frameworks</a:t>
            </a:r>
          </a:p>
          <a:p>
            <a:r>
              <a:rPr lang="en-US" sz="1800" dirty="0"/>
              <a:t>Microsoft Copilot studio, Gemini Enterprise Agent =&gt; low-code SaaS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65BBDE6-53F4-45CE-BB4D-5EBAE12ED944}"/>
              </a:ext>
            </a:extLst>
          </p:cNvPr>
          <p:cNvSpPr txBox="1">
            <a:spLocks/>
          </p:cNvSpPr>
          <p:nvPr/>
        </p:nvSpPr>
        <p:spPr>
          <a:xfrm>
            <a:off x="6493667" y="1807284"/>
            <a:ext cx="4639422" cy="410208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Microsoft Copilot Studio: Microsoft has already done the heavy lifting</a:t>
            </a:r>
          </a:p>
        </p:txBody>
      </p:sp>
    </p:spTree>
    <p:extLst>
      <p:ext uri="{BB962C8B-B14F-4D97-AF65-F5344CB8AC3E}">
        <p14:creationId xmlns:p14="http://schemas.microsoft.com/office/powerpoint/2010/main" val="7143501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6AFFB-27F9-48AD-B90A-7A722494F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AI Agents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1F4DB6-ABE4-41BB-B581-72067D67643E}"/>
              </a:ext>
            </a:extLst>
          </p:cNvPr>
          <p:cNvSpPr txBox="1"/>
          <p:nvPr/>
        </p:nvSpPr>
        <p:spPr>
          <a:xfrm>
            <a:off x="3033656" y="2829261"/>
            <a:ext cx="1697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Types of Agents</a:t>
            </a:r>
          </a:p>
        </p:txBody>
      </p:sp>
    </p:spTree>
    <p:extLst>
      <p:ext uri="{BB962C8B-B14F-4D97-AF65-F5344CB8AC3E}">
        <p14:creationId xmlns:p14="http://schemas.microsoft.com/office/powerpoint/2010/main" val="18226473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E14E6-86C3-45AD-9A2C-FDB6E841A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Generative AI Agents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FEACF8-CCB9-4A98-AA4A-667E13AD4316}"/>
              </a:ext>
            </a:extLst>
          </p:cNvPr>
          <p:cNvSpPr txBox="1"/>
          <p:nvPr/>
        </p:nvSpPr>
        <p:spPr>
          <a:xfrm>
            <a:off x="2291379" y="2969111"/>
            <a:ext cx="125226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LangChain</a:t>
            </a:r>
            <a:endParaRPr lang="en-US" dirty="0"/>
          </a:p>
          <a:p>
            <a:r>
              <a:rPr lang="en-US" dirty="0"/>
              <a:t>LangGraph</a:t>
            </a:r>
          </a:p>
          <a:p>
            <a:r>
              <a:rPr lang="en-US" dirty="0" err="1"/>
              <a:t>AutoGen</a:t>
            </a:r>
            <a:endParaRPr lang="en-US" dirty="0"/>
          </a:p>
          <a:p>
            <a:r>
              <a:rPr lang="en-US" dirty="0" err="1"/>
              <a:t>CrewAI</a:t>
            </a:r>
            <a:endParaRPr lang="en-US" dirty="0"/>
          </a:p>
          <a:p>
            <a:r>
              <a:rPr lang="en-US" dirty="0"/>
              <a:t>Haystack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8979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938999C-04AC-4CA3-B7B8-709DBA3AC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Microsoft Agent 365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8776B0-F6D5-48AE-989D-DFFDF78F334C}"/>
              </a:ext>
            </a:extLst>
          </p:cNvPr>
          <p:cNvSpPr txBox="1"/>
          <p:nvPr/>
        </p:nvSpPr>
        <p:spPr>
          <a:xfrm>
            <a:off x="2538805" y="2581835"/>
            <a:ext cx="36447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Discover Shadow AI &amp; local agents</a:t>
            </a:r>
          </a:p>
          <a:p>
            <a:r>
              <a:rPr lang="en-US" dirty="0"/>
              <a:t>Govern &amp; Secure Agent access</a:t>
            </a:r>
          </a:p>
          <a:p>
            <a:r>
              <a:rPr lang="en-US" dirty="0"/>
              <a:t>Sync with AWS &amp; Google Cloud</a:t>
            </a:r>
          </a:p>
          <a:p>
            <a:r>
              <a:rPr lang="en-US" dirty="0"/>
              <a:t>Manage SaaS agents from one place</a:t>
            </a:r>
          </a:p>
        </p:txBody>
      </p:sp>
    </p:spTree>
    <p:extLst>
      <p:ext uri="{BB962C8B-B14F-4D97-AF65-F5344CB8AC3E}">
        <p14:creationId xmlns:p14="http://schemas.microsoft.com/office/powerpoint/2010/main" val="41884748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35F564-AF3C-4B9E-9CF2-2973278384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Coding Agent Intro.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70E053C-46C3-49C5-BEFC-90C83D7E0E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Claude Code</a:t>
            </a:r>
          </a:p>
          <a:p>
            <a:r>
              <a:rPr lang="en-US" dirty="0"/>
              <a:t>GitHub </a:t>
            </a:r>
            <a:r>
              <a:rPr lang="en-US" dirty="0" err="1"/>
              <a:t>CoPilot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658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C07BA-C3B8-4572-8BF3-F6E51B1FA6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OPENCLAW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23F45E-E0CE-4A36-BFB4-834CD906EF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Ai Agents Collaboration</a:t>
            </a:r>
          </a:p>
        </p:txBody>
      </p:sp>
    </p:spTree>
    <p:extLst>
      <p:ext uri="{BB962C8B-B14F-4D97-AF65-F5344CB8AC3E}">
        <p14:creationId xmlns:p14="http://schemas.microsoft.com/office/powerpoint/2010/main" val="29169299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4F4D3-6D69-4F4B-9D6D-35F8A54AB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Fundamental Components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1098E3-B571-4E5B-A0C4-40BA00CE7231}"/>
              </a:ext>
            </a:extLst>
          </p:cNvPr>
          <p:cNvSpPr txBox="1"/>
          <p:nvPr/>
        </p:nvSpPr>
        <p:spPr>
          <a:xfrm>
            <a:off x="2549562" y="2280621"/>
            <a:ext cx="3478837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Installation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Gateway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Session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Channel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Tools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Skills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Memory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Nodes – distributed arch.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Devices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Agent &amp; subagent(Delegations)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Multi-Agent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Security &amp; Permission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Self-Improvement</a:t>
            </a:r>
          </a:p>
        </p:txBody>
      </p:sp>
    </p:spTree>
    <p:extLst>
      <p:ext uri="{BB962C8B-B14F-4D97-AF65-F5344CB8AC3E}">
        <p14:creationId xmlns:p14="http://schemas.microsoft.com/office/powerpoint/2010/main" val="28210694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2F6C4-289A-4D36-929A-931E9B034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Claude Code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EEF198-3D18-4F5F-9F8B-456C043831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/</a:t>
            </a:r>
            <a:r>
              <a:rPr lang="en-US" dirty="0" err="1"/>
              <a:t>Antrophic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4123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65738-585E-45F9-8B0C-815C93252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8AE922-C244-47DD-9AB4-BE581A0CA4F5}"/>
              </a:ext>
            </a:extLst>
          </p:cNvPr>
          <p:cNvSpPr txBox="1"/>
          <p:nvPr/>
        </p:nvSpPr>
        <p:spPr>
          <a:xfrm>
            <a:off x="2646381" y="2592593"/>
            <a:ext cx="713259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Force company use Coding Agents to develop and maintenance the code </a:t>
            </a:r>
          </a:p>
          <a:p>
            <a:r>
              <a:rPr lang="en-US" dirty="0"/>
              <a:t>Interval Security check benchmark &amp; Reports</a:t>
            </a:r>
          </a:p>
          <a:p>
            <a:r>
              <a:rPr lang="en-US" dirty="0"/>
              <a:t>Test-Driven Development</a:t>
            </a:r>
          </a:p>
          <a:p>
            <a:r>
              <a:rPr lang="en-US" dirty="0"/>
              <a:t>LLM-Based</a:t>
            </a:r>
          </a:p>
          <a:p>
            <a:r>
              <a:rPr lang="en-US" dirty="0"/>
              <a:t>Vision Model for Municipal Integration Docs</a:t>
            </a:r>
          </a:p>
          <a:p>
            <a:r>
              <a:rPr lang="en-US" dirty="0"/>
              <a:t>Docs Organizer and Archive with Vision / Embedding / … Models</a:t>
            </a:r>
          </a:p>
        </p:txBody>
      </p:sp>
    </p:spTree>
    <p:extLst>
      <p:ext uri="{BB962C8B-B14F-4D97-AF65-F5344CB8AC3E}">
        <p14:creationId xmlns:p14="http://schemas.microsoft.com/office/powerpoint/2010/main" val="29001689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5E6DD-D21F-4DFB-BFF1-7BD552919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Agentic Projects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619E4C-40E5-4675-BAFE-20A8BD557A06}"/>
              </a:ext>
            </a:extLst>
          </p:cNvPr>
          <p:cNvSpPr txBox="1"/>
          <p:nvPr/>
        </p:nvSpPr>
        <p:spPr>
          <a:xfrm>
            <a:off x="3151991" y="2829261"/>
            <a:ext cx="53297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Agentic: Human in the Loop(HL) Automated Helpdesk</a:t>
            </a:r>
          </a:p>
          <a:p>
            <a:r>
              <a:rPr lang="en-US" dirty="0"/>
              <a:t>Fully Automated Help Desk &amp; IT Orchestrator</a:t>
            </a:r>
          </a:p>
          <a:p>
            <a:r>
              <a:rPr lang="en-US" dirty="0"/>
              <a:t>Network and Security HL Agents</a:t>
            </a:r>
          </a:p>
          <a:p>
            <a:r>
              <a:rPr lang="en-US" dirty="0"/>
              <a:t>Research Assistant</a:t>
            </a:r>
          </a:p>
        </p:txBody>
      </p:sp>
    </p:spTree>
    <p:extLst>
      <p:ext uri="{BB962C8B-B14F-4D97-AF65-F5344CB8AC3E}">
        <p14:creationId xmlns:p14="http://schemas.microsoft.com/office/powerpoint/2010/main" val="15218567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9A2E1B-D9FB-49E9-B3E8-CF4D4DFD2D4B}"/>
              </a:ext>
            </a:extLst>
          </p:cNvPr>
          <p:cNvSpPr txBox="1"/>
          <p:nvPr/>
        </p:nvSpPr>
        <p:spPr>
          <a:xfrm>
            <a:off x="2173045" y="484094"/>
            <a:ext cx="68947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 2-10 : p.79 – ai engineering book</a:t>
            </a:r>
          </a:p>
          <a:p>
            <a:r>
              <a:rPr lang="en-US" dirty="0"/>
              <a:t>Table 2-6: p.82 – examples of demonstration data used for </a:t>
            </a:r>
            <a:r>
              <a:rPr lang="en-US" dirty="0" err="1"/>
              <a:t>InstructGPT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7167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16425</TotalTime>
  <Words>997</Words>
  <Application>Microsoft Office PowerPoint</Application>
  <PresentationFormat>Widescreen</PresentationFormat>
  <Paragraphs>274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9" baseType="lpstr">
      <vt:lpstr>Arial</vt:lpstr>
      <vt:lpstr>Cascadia Mono Light</vt:lpstr>
      <vt:lpstr>Corbel</vt:lpstr>
      <vt:lpstr>Wingdings</vt:lpstr>
      <vt:lpstr>Parallax</vt:lpstr>
      <vt:lpstr>Ai Agent</vt:lpstr>
      <vt:lpstr>PowerPoint Presentation</vt:lpstr>
      <vt:lpstr>References and Web sites</vt:lpstr>
      <vt:lpstr>Layers of AI</vt:lpstr>
      <vt:lpstr>Fundamental of Machine Learning</vt:lpstr>
      <vt:lpstr>Mathematic Requirements</vt:lpstr>
      <vt:lpstr>Fundamental of Neural Network</vt:lpstr>
      <vt:lpstr>ML Framework</vt:lpstr>
      <vt:lpstr>Tokens and Embeddings</vt:lpstr>
      <vt:lpstr>Text/Vision Embedding Model</vt:lpstr>
      <vt:lpstr>Large Language Models</vt:lpstr>
      <vt:lpstr>How they Train</vt:lpstr>
      <vt:lpstr>PowerPoint Presentation</vt:lpstr>
      <vt:lpstr>Cost of Training</vt:lpstr>
      <vt:lpstr>Training Dataset and samples</vt:lpstr>
      <vt:lpstr>Best Practices</vt:lpstr>
      <vt:lpstr>PowerPoint Presentation</vt:lpstr>
      <vt:lpstr>Knowledge</vt:lpstr>
      <vt:lpstr>Semantic Search &amp; RAG</vt:lpstr>
      <vt:lpstr>LLM Types</vt:lpstr>
      <vt:lpstr>Interface</vt:lpstr>
      <vt:lpstr>Multimodal Models</vt:lpstr>
      <vt:lpstr>Popular LLM Privers</vt:lpstr>
      <vt:lpstr>Generative Ai</vt:lpstr>
      <vt:lpstr>Open Source LLMs [Models]</vt:lpstr>
      <vt:lpstr>Coding Agent</vt:lpstr>
      <vt:lpstr>Agent Frameworks &amp; Tools</vt:lpstr>
      <vt:lpstr>Local LLM App</vt:lpstr>
      <vt:lpstr>ML Engineer vs. AI Engineer</vt:lpstr>
      <vt:lpstr>Prompt/Context Engineering</vt:lpstr>
      <vt:lpstr>Prompting vs RAG vs Fine-tuning</vt:lpstr>
      <vt:lpstr>LLM Name Conventions</vt:lpstr>
      <vt:lpstr>RAG Retrieval Augmented Generation</vt:lpstr>
      <vt:lpstr>Fine-tunning Techniques</vt:lpstr>
      <vt:lpstr>Inference Optimization</vt:lpstr>
      <vt:lpstr>Benchmarks and Evaluations</vt:lpstr>
      <vt:lpstr>MCP Protocol/Servers</vt:lpstr>
      <vt:lpstr>LLM: Chatbot vs. Reasoning Engine</vt:lpstr>
      <vt:lpstr>ML Pipelines</vt:lpstr>
      <vt:lpstr>Security with great power comes great responsibilities</vt:lpstr>
      <vt:lpstr>Memory</vt:lpstr>
      <vt:lpstr>Philosophy</vt:lpstr>
      <vt:lpstr>Hardware as a Backed Infra</vt:lpstr>
      <vt:lpstr>Ai Agent Factory</vt:lpstr>
      <vt:lpstr>Introduction to AI Agents</vt:lpstr>
      <vt:lpstr>Building Generative AI Agents</vt:lpstr>
      <vt:lpstr>Microsoft Agent 365</vt:lpstr>
      <vt:lpstr>Coding Agent Intro.</vt:lpstr>
      <vt:lpstr>OPENCLAW</vt:lpstr>
      <vt:lpstr>Fundamental Components</vt:lpstr>
      <vt:lpstr>Claude Code</vt:lpstr>
      <vt:lpstr>Contracts</vt:lpstr>
      <vt:lpstr>Ai Agentic Projects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Agents</dc:title>
  <dc:creator>محمد رضا جهان خواه</dc:creator>
  <cp:lastModifiedBy>محمد رضا جهان خواه</cp:lastModifiedBy>
  <cp:revision>215</cp:revision>
  <dcterms:created xsi:type="dcterms:W3CDTF">2026-04-18T16:57:55Z</dcterms:created>
  <dcterms:modified xsi:type="dcterms:W3CDTF">2026-05-06T18:42:31Z</dcterms:modified>
</cp:coreProperties>
</file>